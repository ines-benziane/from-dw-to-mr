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88952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56B3"/>
                </a:solidFill>
              </a:rPr>
              <a:t>Compte-rendu IRM musculaire standardisé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Conception, choix de représentation et automatisation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</a:rPr>
              <a:t>École d'été — Neurologie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Inès Benziane — Institut de Myologie, Paris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Contexte clinique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</a:rPr>
              <a:t>Pourquoi un CR standardisé pour l'IRM musculaire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32588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Un besoin de standardisation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Les maladies neuromusculaires nécessitent un suivi longitudinal rigoureux des muscles par IRM. Sans CR structuré, l'interprétation dépend fortement de l'opérateur.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11430000" cy="132588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Deux biomarqueurs complémentaires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363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Le temps de relaxation T2 (inflammation, lésions actives) et la fraction de graisse FF (infiltration lipidique irréversible).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11430000" cy="132588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Objectif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Proposer un CR lisible, reproductible, comparable dans le temps — et qui s'adapte aux différents contextes de lecture.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 biomarqueur 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</a:rPr>
              <a:t>Temps de relaxation transversal — marqueur d'inflammation et de lésion 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Le T2 musculaire est prolongé en présence d'un œdème ou d'une inflammation active. Il constitue un indicateur sensible des processus lésionnels en cours.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Échelle de couleur retenue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320040" cy="5029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&lt; 10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13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Incertitude de mesure — non interprétable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53512"/>
            <a:ext cx="320040" cy="50292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266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10 – 37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0266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Plage normale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66744"/>
            <a:ext cx="320040" cy="5029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398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37 – 41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7398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Zone de vigilance — seuil à 39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79976"/>
            <a:ext cx="320040" cy="50292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53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&gt; 41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453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Valeur élevée — atteinte probable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Pourquoi 39 ms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486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Seuil issu de la littérature et validé en interne — les muscles dont le T2 dépasse ce seuil sont mis en évidence par un contour plus épais.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1097280"/>
            <a:ext cx="4389120" cy="53035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[ Capture section T2 ]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La fraction de graisse (FF)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</a:rPr>
              <a:t>Marqueur d'infiltration lipidique — processus irréversible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La FF mesure la proportion de graisse dans le muscle. Contrairement au T2, elle reflète des lésions établies et non récupérables au-delà d'un certain seuil.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Trois zones cliniques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3200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0 – 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31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Infiltration très faible — couleur uniforme.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320040" cy="64008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5 – 40 %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004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Zone d'intérêt clinique — nuances de couleur pour distinguer les degrés.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320040" cy="64008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7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&gt; 40 %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06907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Infiltration sévère — muscle non récupérable. Couleur uniforme saturée.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La FF est calculée par la méthode Dixon 3 points. Elle est exprimée en proportion (0 à 100 %).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097280"/>
            <a:ext cx="4389120" cy="53035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[ Capture section FF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Structure du compte-rendu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858000" cy="82296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457200" cy="50292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16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En-tête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6362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Informations patient, date d'examen, équipe médicale.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6858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231136"/>
            <a:ext cx="457200" cy="50292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48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Repères anatomiques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Schéma de coupe avec légende des abréviations musculaires.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6858000" cy="82296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163824"/>
            <a:ext cx="457200" cy="50292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81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Section T2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290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Coupes colorées + colorbar + commentaire automatique.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41064"/>
            <a:ext cx="6858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096512"/>
            <a:ext cx="457200" cy="50292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33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142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Section 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6168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Coupes colorées + vues anatomiques de face (cuisses).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73752"/>
            <a:ext cx="6858000" cy="82296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29200"/>
            <a:ext cx="457200" cy="50292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657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9469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Page de synthèse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29437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Évolution par muscle entre deux examens (si antécédent disponible).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1097280"/>
            <a:ext cx="4389120" cy="53035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[ Vue d'ensemble du CR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Segmentation automatique des muscles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</a:rPr>
              <a:t>Les contours musculaires sont générés automatiquement par un algorithme dédié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Chaque muscle est délimité automatiquement sur chaque coupe IRM. Ces contours sont ensuite lissés (interpolation B-spline) avant affichage dans le CR.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6858000" cy="11887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Ce que ça apporte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Reproductibilité totale entre patients et entre examens. Gain de temps considérable par rapport à une segmentation manuelle.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6858000" cy="11887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278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Limites à connaître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57016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La qualité des contours dépend de la qualité de la segmentation automatique. Une erreur de segmentation se répercute directement sur les valeurs T2 et FF affichées.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80560"/>
            <a:ext cx="6858000" cy="11887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537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B3"/>
                </a:solidFill>
              </a:rPr>
              <a:t>Mention dans le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82896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Une note indique explicitement que les contours sont issus d'une segmentation automatique.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097280"/>
            <a:ext cx="4389120" cy="53035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[ Capture contours musculaires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Choix de la colormap 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</a:rPr>
              <a:t>Rendre visible ce qui est cliniquement pertinent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37160" cy="10972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6675120" cy="1097280"/>
          </a:xfrm>
          <a:prstGeom prst="rect">
            <a:avLst/>
          </a:prstGeom>
          <a:solidFill>
            <a:srgbClr val="E8F0FB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Gris en dessous de 10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4533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Valeurs trop basses : incertitude de mesure connue à ces niveaux. Le gris signale visuellement l'absence d'interprétation fiable.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137160" cy="109728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6675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963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Bleu → bleu clair (10 – 37 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2549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Plage normale. Le dégradé permet de voir les variations internes sans alarmer le lecteur.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137160" cy="109728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6675120" cy="1097280"/>
          </a:xfrm>
          <a:prstGeom prst="rect">
            <a:avLst/>
          </a:prstGeom>
          <a:solidFill>
            <a:srgbClr val="E8F0FB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764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Jaune autour de 39 ms (37 – 41 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0565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Zone de vigilance. Le jaune attire l'œil sur les muscles proches du seuil sans être aussi alarmant que le rouge.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83479"/>
            <a:ext cx="137160" cy="109728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83479"/>
            <a:ext cx="6675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56631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Orange → rouge au-delà de 41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85815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Signal d'alerte fort. De plus, le contour du muscle est épaissi pour renforcer la mise en évidence.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1097280"/>
            <a:ext cx="4389120" cy="53035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[ Colorbar T2 + exemple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Choix de la colormap 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</a:rPr>
              <a:t>Concentrer l'attention sur la zone d'intérêt clinique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La palette FF est construite autour de 3 zones aux logiques distinctes 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3716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6675120" cy="1188720"/>
          </a:xfrm>
          <a:prstGeom prst="rect">
            <a:avLst/>
          </a:prstGeom>
          <a:solidFill>
            <a:srgbClr val="E8F0FB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73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0 – 5 % — zone basse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20824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Infiltration très faible. Une couleur uniforme suffit : il n'y a pas de nuance cliniquement significative à cette échelle.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137160" cy="118872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6675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449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5 – 40 % — zone d'intérêt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92424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C'est ici que les nuances comptent. La palette est étalée sur cette plage pour maximiser la lisibilité des différences.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43400"/>
            <a:ext cx="137160" cy="118872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6675120" cy="1188720"/>
          </a:xfrm>
          <a:prstGeom prst="rect">
            <a:avLst/>
          </a:prstGeom>
          <a:solidFill>
            <a:srgbClr val="E8F0FB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&gt; 40 % — zone sévère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64024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Au-delà de ce seuil, le muscle est considéré comme non récupérable. Une couleur uniforme suffit — la nuance n'apporte plus d'information utile.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097280"/>
            <a:ext cx="4389120" cy="53035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[ Colorbar FF + exemple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Commentaire automatique 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</a:rPr>
              <a:t>Une aide à la lecture — non un diagnostic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Un commentaire textuel est généré automatiquement à la fin de chaque section T2, selon le nombre de muscles dont le T2 volumétrique dépasse 39 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7772400" cy="658368"/>
          </a:xfrm>
          <a:prstGeom prst="rect">
            <a:avLst/>
          </a:prstGeom>
          <a:solidFill>
            <a:srgbClr val="E8F0FB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01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Normal 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013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Aucune coupe ≥ 39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41448"/>
            <a:ext cx="7772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5117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Normal limite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511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Aucun muscle ≥ 39 ms, mais coupes proches du seuil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91256"/>
            <a:ext cx="7772400" cy="658368"/>
          </a:xfrm>
          <a:prstGeom prst="rect">
            <a:avLst/>
          </a:prstGeom>
          <a:solidFill>
            <a:srgbClr val="E8F0FB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0098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Discret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30098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 muscle ≥ 39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41064"/>
            <a:ext cx="7772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50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Modéré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050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2 à 3 muscles ≥ 39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90872"/>
            <a:ext cx="7772400" cy="658368"/>
          </a:xfrm>
          <a:prstGeom prst="rect">
            <a:avLst/>
          </a:prstGeom>
          <a:solidFill>
            <a:srgbClr val="E8F0FB"/>
          </a:solidFill>
          <a:ln w="9525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00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Significatif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800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4 muscles ou plus ≥ 39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669280"/>
            <a:ext cx="7772400" cy="685800"/>
          </a:xfrm>
          <a:prstGeom prst="rect">
            <a:avLst/>
          </a:prstGeom>
          <a:solidFill>
            <a:srgbClr val="FFF8E6"/>
          </a:solidFill>
          <a:ln w="9525">
            <a:solidFill>
              <a:srgbClr val="F0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⚠  Ce commentaire est une aide à la lecture. Il ne tient pas compte du contexte clinique, de l'histoire du patient ni des valeurs FF. Le médecin reste décisionnaire.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Suivi longitudinal — page de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</a:rPr>
              <a:t>Générée uniquement si un examen antérieur est disponible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La page de synthèse présente l'évolution de chaque muscle entre deux examens. Elle permet un suivi quantitatif et visuel de la progression de la maladie.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▸  T2 : variation en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0253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   Différence absolue entre les deux examens (ex. : +6 ms).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877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▸  FF : variation en points de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07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   Différence absolue (ex. : passage de 20 % à 27 % = +7 %).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9242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▸  Couleur d'évolution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1188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   Bleu = amélioration · Blanc = stable (±5 unités) · Rouge = aggravation.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9709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B3"/>
                </a:solidFill>
              </a:rPr>
              <a:t>▸  Représentation visuelle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165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   Chaque muscle est coloré selon son sens d'évolution sur la coupe anatomique.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4389120" cy="5303520"/>
          </a:xfrm>
          <a:prstGeom prst="rect">
            <a:avLst/>
          </a:prstGeom>
          <a:solidFill>
            <a:srgbClr val="E8F0FB"/>
          </a:solidFill>
          <a:ln w="9525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[ Capture page de synthèse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Institut de Myologie — Hôpital La Pitié-Salpêtrière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6B3"/>
                </a:solidFill>
              </a:rPr>
              <a:t>▸  Validation clinique des seuils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99616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   Les seuils T2 (39 ms) et FF (40 %) sont à valider sur une cohorte plus large.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6B3"/>
                </a:solidFill>
              </a:rPr>
              <a:t>▸  Amélioration du commentaire automatique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96896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   Intégrer les valeurs FF et le contexte longitudinal dans la génération du commentaire.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6B3"/>
                </a:solidFill>
              </a:rPr>
              <a:t>▸  Extension à d'autres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94176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   Le pipeline est actuellement validé sur cuisses et jambes.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199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6B3"/>
                </a:solidFill>
              </a:rPr>
              <a:t>▸  Retours des utilisateurs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91455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   Ajustements en cours suite aux premières lectures par l'équipe médicale.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1247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56B3"/>
                </a:solidFill>
              </a:rPr>
              <a:t>En résumé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✓  Un CR standardisé, lisible et comparable dans le temps.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3522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✓  Deux biomarqueurs : T2 (lésion active) + FF (infiltration irréversible).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472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✓  Segmentation automatique + colormaps + commentaire automatique.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593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✓  Un outil évolutif — vos retours sont précieux.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Merci pour votre attention — questions bienvenues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EE"/>
                </a:solidFill>
              </a:rPr>
              <a:t>Inès Benziane — Institut de Myologie, Paris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
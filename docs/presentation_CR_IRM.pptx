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12471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56B3"/>
                </a:solidFill>
              </a:rPr>
              <a:t>Comptes-rendus IRM musculaires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</a:rPr>
              <a:t>Présentation des versions, palettes de couleur et commentaire automatique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</a:rPr>
              <a:t>Institut de Myologie —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Les 6 versions de compte-rendu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Institut de Myologie — IRM musculaire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960120" cy="475488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Version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1188720"/>
            <a:ext cx="3154680" cy="475488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28016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Coupes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188720"/>
            <a:ext cx="1783080" cy="475488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28016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Synthèse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1188720"/>
            <a:ext cx="4983480" cy="475488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28016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FF cuisses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664208"/>
            <a:ext cx="960120" cy="475488"/>
          </a:xfrm>
          <a:prstGeom prst="rect">
            <a:avLst/>
          </a:prstGeom>
          <a:solidFill>
            <a:srgbClr val="E8F0FB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755648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6B3"/>
                </a:solidFill>
              </a:rPr>
              <a:t>1A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1664208"/>
            <a:ext cx="3154680" cy="475488"/>
          </a:xfrm>
          <a:prstGeom prst="rect">
            <a:avLst/>
          </a:prstGeom>
          <a:solidFill>
            <a:srgbClr val="E8F0FB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90472" y="1755648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1 coupe volumétrique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664208"/>
            <a:ext cx="1783080" cy="475488"/>
          </a:xfrm>
          <a:prstGeom prst="rect">
            <a:avLst/>
          </a:prstGeom>
          <a:solidFill>
            <a:srgbClr val="E8F0FB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175564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Non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1664208"/>
            <a:ext cx="4983480" cy="475488"/>
          </a:xfrm>
          <a:prstGeom prst="rect">
            <a:avLst/>
          </a:prstGeom>
          <a:solidFill>
            <a:srgbClr val="E8F0FB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175564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Vue transversale uniquement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139696"/>
            <a:ext cx="960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2231136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6B3"/>
                </a:solidFill>
              </a:rPr>
              <a:t>1B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2139696"/>
            <a:ext cx="3154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90472" y="2231136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1 coupe volumétrique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139696"/>
            <a:ext cx="1783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2231136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Non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2139696"/>
            <a:ext cx="4983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2231136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Vues de face + transversale (cuisses)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615184"/>
            <a:ext cx="960120" cy="475488"/>
          </a:xfrm>
          <a:prstGeom prst="rect">
            <a:avLst/>
          </a:prstGeom>
          <a:solidFill>
            <a:srgbClr val="E8F0FB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2706624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6B3"/>
                </a:solidFill>
              </a:rPr>
              <a:t>2A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17320" y="2615184"/>
            <a:ext cx="3154680" cy="475488"/>
          </a:xfrm>
          <a:prstGeom prst="rect">
            <a:avLst/>
          </a:prstGeom>
          <a:solidFill>
            <a:srgbClr val="E8F0FB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90472" y="2706624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5 coupes — format compact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2615184"/>
            <a:ext cx="1783080" cy="475488"/>
          </a:xfrm>
          <a:prstGeom prst="rect">
            <a:avLst/>
          </a:prstGeom>
          <a:solidFill>
            <a:srgbClr val="E8F0FB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36592" y="2706624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Synth. v1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2615184"/>
            <a:ext cx="4983480" cy="475488"/>
          </a:xfrm>
          <a:prstGeom prst="rect">
            <a:avLst/>
          </a:prstGeom>
          <a:solidFill>
            <a:srgbClr val="E8F0FB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11112" y="270662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Couleurs FF sans labels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090672"/>
            <a:ext cx="960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3182112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6B3"/>
                </a:solidFill>
              </a:rPr>
              <a:t>2B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17320" y="3090672"/>
            <a:ext cx="3154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90472" y="318211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5 coupes — format compact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63440" y="3090672"/>
            <a:ext cx="1783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36592" y="318211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Synth. v2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7960" y="3090672"/>
            <a:ext cx="4983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11112" y="318211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Couleurs FF sans labels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566160"/>
            <a:ext cx="960120" cy="475488"/>
          </a:xfrm>
          <a:prstGeom prst="rect">
            <a:avLst/>
          </a:prstGeom>
          <a:solidFill>
            <a:srgbClr val="E8F0FB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3657600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6B3"/>
                </a:solidFill>
              </a:rPr>
              <a:t>3A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17320" y="3566160"/>
            <a:ext cx="3154680" cy="475488"/>
          </a:xfrm>
          <a:prstGeom prst="rect">
            <a:avLst/>
          </a:prstGeom>
          <a:solidFill>
            <a:srgbClr val="E8F0FB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90472" y="36576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5 coupes — format complet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3440" y="3566160"/>
            <a:ext cx="1783080" cy="475488"/>
          </a:xfrm>
          <a:prstGeom prst="rect">
            <a:avLst/>
          </a:prstGeom>
          <a:solidFill>
            <a:srgbClr val="E8F0FB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36592" y="365760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Synth. v1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37960" y="3566160"/>
            <a:ext cx="4983480" cy="475488"/>
          </a:xfrm>
          <a:prstGeom prst="rect">
            <a:avLst/>
          </a:prstGeom>
          <a:solidFill>
            <a:srgbClr val="E8F0FB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11112" y="365760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FF avec labels des muscles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041648"/>
            <a:ext cx="960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" y="4133088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6B3"/>
                </a:solidFill>
              </a:rPr>
              <a:t>3B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17320" y="4041648"/>
            <a:ext cx="3154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90472" y="4133088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5 coupes — format complet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63440" y="4041648"/>
            <a:ext cx="1783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36592" y="413308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Synth. v2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37960" y="4041648"/>
            <a:ext cx="4983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11112" y="413308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FF avec labels des muscles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* La version A et B diffèrent uniquement par la mise en page de la page de synthèse.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Versions 1A / 1B — 1 coupe volumétrique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Sans page de synthèse dédiée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Institut de Myologie — IRM musculaire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6B3"/>
                </a:solidFill>
              </a:rPr>
              <a:t>▸  1 coupe par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     La valeur affichée est la moyenne sur tout le volume musculaire.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6B3"/>
                </a:solidFill>
              </a:rPr>
              <a:t>▸  Comparaison avant / après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671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     Si un examen antérieur est disponible : coupe antécédente + évolution par muscle.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6B3"/>
                </a:solidFill>
              </a:rPr>
              <a:t>▸  Commentaire T2 automatique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443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     Catégorie générée selon le nombre de muscles ≥ 39 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20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6B3"/>
                </a:solidFill>
              </a:rPr>
              <a:t>▸  1B uniquement — vues de face FF cuisses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216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     Vues anatomiques antérieure et postérieure des cuisses.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97280"/>
            <a:ext cx="5577840" cy="5303520"/>
          </a:xfrm>
          <a:prstGeom prst="rect">
            <a:avLst/>
          </a:prstGeom>
          <a:solidFill>
            <a:srgbClr val="E8F0FB"/>
          </a:solidFill>
          <a:ln w="1270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5661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</a:rPr>
              <a:t>[ Capture 1A ou 1B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Versions 2 et 3 — 5 coupes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Format compact (2) vs complet (3)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Institut de Myologie — IRM musculaire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6B3"/>
                </a:solidFill>
              </a:rPr>
              <a:t>Format compact — 2A / 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6B3"/>
                </a:solidFill>
              </a:rPr>
              <a:t>▸  5 coupes (1 sur 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556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     Présentation condensée, idéale pour une lecture rapide.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128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6B3"/>
                </a:solidFill>
              </a:rPr>
              <a:t>▸  FF : couleurs uniquement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1401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     Pas de labels de muscles affichés.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6B3"/>
                </a:solidFill>
              </a:rPr>
              <a:t>Format complet — 3A / 3B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29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6B3"/>
                </a:solidFill>
              </a:rPr>
              <a:t>▸  5 coupes (1 sur 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301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     Même sélection de coupes que le format compact.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873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6B3"/>
                </a:solidFill>
              </a:rPr>
              <a:t>▸  FF : avec labels des muscles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8853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     Noms des muscles visibles sur chaque coupe.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097280"/>
            <a:ext cx="5577840" cy="5303520"/>
          </a:xfrm>
          <a:prstGeom prst="rect">
            <a:avLst/>
          </a:prstGeom>
          <a:solidFill>
            <a:srgbClr val="E8F0FB"/>
          </a:solidFill>
          <a:ln w="1270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5661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</a:rPr>
              <a:t>[ Capture 2A ou 3A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Page de synthèse — v1 et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</a:rPr>
              <a:t>Générée uniquement si un examen antérieur est disponible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Institut de Myologie — IRM musculaire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6B3"/>
                </a:solidFill>
              </a:rPr>
              <a:t>Synthèse 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Une section par biomarqueur / segment, avec évolution par muscle.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6B3"/>
                </a:solidFill>
              </a:rPr>
              <a:t>Synthèse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Blocs T2 / FF séparés : examen actuel puis évolution distinctement présentés.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429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</a:rPr>
              <a:t>Dans les deux cas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94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6B3"/>
                </a:solidFill>
              </a:rPr>
              <a:t>▸  T2 : variation en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959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     (ex. : +6 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531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6B3"/>
                </a:solidFill>
              </a:rPr>
              <a:t>▸  FF : variation en points de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542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     (ex. : +7 %)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114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6B3"/>
                </a:solidFill>
              </a:rPr>
              <a:t>▸  Couleur d'évolution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1266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     Bleu = amélioration · Rouge = aggravation · Seuil ±5 unités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97280"/>
            <a:ext cx="5577840" cy="5303520"/>
          </a:xfrm>
          <a:prstGeom prst="rect">
            <a:avLst/>
          </a:prstGeom>
          <a:solidFill>
            <a:srgbClr val="E8F0FB"/>
          </a:solidFill>
          <a:ln w="1270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5661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</a:rPr>
              <a:t>[ Capture page de synthèse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Palettes de couleur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Institut de Myologie — IRM musculaire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6B3"/>
                </a:solidFill>
              </a:rPr>
              <a:t>T2 — 4 palettes disponibles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6B3"/>
                </a:solidFill>
              </a:rPr>
              <a:t>▸  default (vikO + lajolla)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556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     Bleu → jaune à 39 ms → rouge. Référence actuelle.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6B3"/>
                </a:solidFill>
              </a:rPr>
              <a:t>▸  hawaii_r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500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     Dégradé chaud, même logique jaune autour du seuil.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6B3"/>
                </a:solidFill>
              </a:rPr>
              <a:t>▸  roma_r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443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     Du bleu foncé au rouge vif.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37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6B3"/>
                </a:solidFill>
              </a:rPr>
              <a:t>▸  bam_r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38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     Palette divergente froide → chaude.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6B3"/>
                </a:solidFill>
              </a:rPr>
              <a:t>FF — 3 palettes disponibles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26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6B3"/>
                </a:solidFill>
              </a:rPr>
              <a:t>▸  default (lajolla_r)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274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     Référence actuelle — coupée à 60 % de la palette pour les muscles très infiltrés.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20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6B3"/>
                </a:solidFill>
              </a:rPr>
              <a:t>▸  lapaz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218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     Palette froide à chaude sur toute la plage.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15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6B3"/>
                </a:solidFill>
              </a:rPr>
              <a:t>▸  davos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16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     Palette gris clair à sombre.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Commentaire automatique T2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Institut de Myologie — IRM musculaire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Un commentaire est proposé à la fin de chaque section T2. Il est basé sur le nombre de muscles dont le T2 volumétrique dépasse 39 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11612880" cy="758952"/>
          </a:xfrm>
          <a:prstGeom prst="rect">
            <a:avLst/>
          </a:prstGeom>
          <a:solidFill>
            <a:srgbClr val="E8F0FB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6B3"/>
                </a:solidFill>
              </a:rPr>
              <a:t>Normal strict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737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Aucune coupe ≥ 39 ms, valeur max nettement en dessous du seuil.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« Valeurs des moyennes du T2 musculaire dans la norme. 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14600"/>
            <a:ext cx="1161288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560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6B3"/>
                </a:solidFill>
              </a:rPr>
              <a:t>Normal limite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560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Aucun muscle ≥ 39 ms, mais certaines coupes atteignent 39 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2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« Valeurs de T2 dans la norme, suggérant que les processus inflammatoires et lésionnels sont peu actifs.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37560"/>
            <a:ext cx="11612880" cy="758952"/>
          </a:xfrm>
          <a:prstGeom prst="rect">
            <a:avLst/>
          </a:prstGeom>
          <a:solidFill>
            <a:srgbClr val="E8F0FB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383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6B3"/>
                </a:solidFill>
              </a:rPr>
              <a:t>Discret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383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1 muscle ≥ 39 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832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« Discrète augmentation de la moyenne du T2 musculaire en regard de [muscle]… 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160520"/>
            <a:ext cx="1161288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6B3"/>
                </a:solidFill>
              </a:rPr>
              <a:t>Modéré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206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2 à 3 muscles ≥ 39 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062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« Augmentation modérée et significative des moyennes du T2 musculaire… 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83480"/>
            <a:ext cx="11612880" cy="758952"/>
          </a:xfrm>
          <a:prstGeom prst="rect">
            <a:avLst/>
          </a:prstGeom>
          <a:solidFill>
            <a:srgbClr val="E8F0FB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029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6B3"/>
                </a:solidFill>
              </a:rPr>
              <a:t>Significatif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5029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4 muscles ou plus ≥ 39 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0292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« Augmentation significative des moyennes du T2 musculaire…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0"/>
            <a:ext cx="112471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56B3"/>
                </a:solidFill>
              </a:rPr>
              <a:t>Merci pour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</a:rPr>
              <a:t>Ces versions sont disponibles pour ceux qui souhaitent y jeter un œil.
Vos retours guideront les prochaines évolutions.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</a:rPr>
              <a:t>Inès Benziane — Institut de Myologie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